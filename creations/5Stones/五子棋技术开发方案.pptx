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0A1229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645920"/>
            <a:ext cx="6400800" cy="27432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五子棋 — 全平台技术开发方案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26517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Rust + Tauri 2.0 + Cloudflare Workers + LLM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011680" y="3383280"/>
            <a:ext cx="5120640" cy="22860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36576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桌面 · 移动 三端共用  |  GitHub 一键登录  |  2026 年 4 月</a:t>
            </a:r>
            <a:endParaRPr lang="en-US" sz="1000" dirty="0"/>
          </a:p>
        </p:txBody>
      </p:sp>
      <p:sp>
        <p:nvSpPr>
          <p:cNvPr id="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85800" y="685800"/>
            <a:ext cx="1097280" cy="27432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005840"/>
            <a:ext cx="3474720" cy="438912"/>
          </a:xfrm>
          <a:prstGeom prst="roundRect">
            <a:avLst>
              <a:gd name="adj" fmla="val 20833"/>
            </a:avLst>
          </a:prstGeom>
          <a:solidFill>
            <a:srgbClr val="152244"/>
          </a:solidFill>
          <a:ln w="12700">
            <a:solidFill>
              <a:srgbClr val="2A3A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00584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项目概述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1554480"/>
            <a:ext cx="3474720" cy="438912"/>
          </a:xfrm>
          <a:prstGeom prst="roundRect">
            <a:avLst>
              <a:gd name="adj" fmla="val 20833"/>
            </a:avLst>
          </a:prstGeom>
          <a:solidFill>
            <a:srgbClr val="152244"/>
          </a:solidFill>
          <a:ln w="12700">
            <a:solidFill>
              <a:srgbClr val="2A3A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54480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55448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技术选型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103120"/>
            <a:ext cx="3474720" cy="438912"/>
          </a:xfrm>
          <a:prstGeom prst="roundRect">
            <a:avLst>
              <a:gd name="adj" fmla="val 20833"/>
            </a:avLst>
          </a:prstGeom>
          <a:solidFill>
            <a:srgbClr val="152244"/>
          </a:solidFill>
          <a:ln w="12700">
            <a:solidFill>
              <a:srgbClr val="2A3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103120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10312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系统架构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2651760"/>
            <a:ext cx="3474720" cy="438912"/>
          </a:xfrm>
          <a:prstGeom prst="roundRect">
            <a:avLst>
              <a:gd name="adj" fmla="val 20833"/>
            </a:avLst>
          </a:prstGeom>
          <a:solidFill>
            <a:srgbClr val="152244"/>
          </a:solidFill>
          <a:ln w="12700">
            <a:solidFill>
              <a:srgbClr val="2A3A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651760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265176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登录 &amp; 架构优势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005840"/>
            <a:ext cx="3474720" cy="438912"/>
          </a:xfrm>
          <a:prstGeom prst="roundRect">
            <a:avLst>
              <a:gd name="adj" fmla="val 20833"/>
            </a:avLst>
          </a:prstGeom>
          <a:solidFill>
            <a:srgbClr val="152244"/>
          </a:solidFill>
          <a:ln w="12700">
            <a:solidFill>
              <a:srgbClr val="2A3A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005840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94960" y="100584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AI 引擎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1554480"/>
            <a:ext cx="3474720" cy="438912"/>
          </a:xfrm>
          <a:prstGeom prst="roundRect">
            <a:avLst>
              <a:gd name="adj" fmla="val 20833"/>
            </a:avLst>
          </a:prstGeom>
          <a:solidFill>
            <a:srgbClr val="152244"/>
          </a:solidFill>
          <a:ln w="12700">
            <a:solidFill>
              <a:srgbClr val="2A3A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554480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94960" y="155448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分步开发计划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09160" y="2103120"/>
            <a:ext cx="3474720" cy="438912"/>
          </a:xfrm>
          <a:prstGeom prst="roundRect">
            <a:avLst>
              <a:gd name="adj" fmla="val 20833"/>
            </a:avLst>
          </a:prstGeom>
          <a:solidFill>
            <a:srgbClr val="152244"/>
          </a:solidFill>
          <a:ln w="12700">
            <a:solidFill>
              <a:srgbClr val="2A3A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103120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94960" y="210312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成本估算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09160" y="2651760"/>
            <a:ext cx="3474720" cy="438912"/>
          </a:xfrm>
          <a:prstGeom prst="roundRect">
            <a:avLst>
              <a:gd name="adj" fmla="val 20833"/>
            </a:avLst>
          </a:prstGeom>
          <a:solidFill>
            <a:srgbClr val="152244"/>
          </a:solidFill>
          <a:ln w="12700">
            <a:solidFill>
              <a:srgbClr val="2A3A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651760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94960" y="265176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风险评估</a:t>
            </a:r>
            <a:endParaRPr lang="en-US" sz="1300" dirty="0"/>
          </a:p>
        </p:txBody>
      </p:sp>
      <p:sp>
        <p:nvSpPr>
          <p:cNvPr id="2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85800" y="685800"/>
            <a:ext cx="1097280" cy="27432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2377440" cy="3200400"/>
          </a:xfrm>
          <a:prstGeom prst="roundRect">
            <a:avLst>
              <a:gd name="adj" fmla="val 3846"/>
            </a:avLst>
          </a:prstGeom>
          <a:solidFill>
            <a:srgbClr val="152244"/>
          </a:solidFill>
          <a:ln w="12700">
            <a:solidFill>
              <a:srgbClr val="2A3A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1188720"/>
            <a:ext cx="548640" cy="54864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0C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全平台覆盖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2286000"/>
            <a:ext cx="1645920" cy="13716"/>
          </a:xfrm>
          <a:prstGeom prst="rect">
            <a:avLst/>
          </a:prstGeom>
          <a:solidFill>
            <a:srgbClr val="2A3A6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2316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(Cloudflare Pages)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桌面 (Win/Mac/Linux)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移动 (iOS/Android)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三端共用一套代码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005840"/>
            <a:ext cx="2377440" cy="3200400"/>
          </a:xfrm>
          <a:prstGeom prst="roundRect">
            <a:avLst>
              <a:gd name="adj" fmla="val 3846"/>
            </a:avLst>
          </a:prstGeom>
          <a:solidFill>
            <a:srgbClr val="152244"/>
          </a:solidFill>
          <a:ln w="12700">
            <a:solidFill>
              <a:srgbClr val="2A3A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188720"/>
            <a:ext cx="548640" cy="54864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0C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874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Rust 核心驱动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49040" y="2286000"/>
            <a:ext cx="1645920" cy="13716"/>
          </a:xfrm>
          <a:prstGeom prst="rect">
            <a:avLst/>
          </a:prstGeom>
          <a:solidFill>
            <a:srgbClr val="2A3A6A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242316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内存安全，零成本抽象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核心库三端复用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高性能棋局计算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编译时错误检测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377440" cy="3200400"/>
          </a:xfrm>
          <a:prstGeom prst="roundRect">
            <a:avLst>
              <a:gd name="adj" fmla="val 3846"/>
            </a:avLst>
          </a:prstGeom>
          <a:solidFill>
            <a:srgbClr val="152244"/>
          </a:solidFill>
          <a:ln w="12700">
            <a:solidFill>
              <a:srgbClr val="2A3A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1188720"/>
            <a:ext cx="548640" cy="54864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0C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874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智能对弈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0" y="2286000"/>
            <a:ext cx="1645920" cy="13716"/>
          </a:xfrm>
          <a:prstGeom prst="rect">
            <a:avLst/>
          </a:prstGeom>
          <a:solidFill>
            <a:srgbClr val="2A3A6A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242316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/ Anthropic / Ollama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多后端灵活切换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自然语言交互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棋力可调节</a:t>
            </a:r>
            <a:endParaRPr lang="en-US" sz="11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技术选型 — 前端（三端共用）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85800" y="685800"/>
            <a:ext cx="1097280" cy="27432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2377440" cy="3474720"/>
          </a:xfrm>
          <a:prstGeom prst="roundRect">
            <a:avLst>
              <a:gd name="adj" fmla="val 3846"/>
            </a:avLst>
          </a:prstGeom>
          <a:solidFill>
            <a:srgbClr val="152244"/>
          </a:solidFill>
          <a:ln w="12700">
            <a:solidFill>
              <a:srgbClr val="2A3A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1887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18 + TypeScript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" y="1645920"/>
            <a:ext cx="1645920" cy="13716"/>
          </a:xfrm>
          <a:prstGeom prst="rect">
            <a:avLst/>
          </a:prstGeom>
          <a:solidFill>
            <a:srgbClr val="2A3A6A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1920240"/>
            <a:ext cx="82296" cy="82296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1828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组件化开发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0" y="2468880"/>
            <a:ext cx="82296" cy="82296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2377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Tauri WebView 兼容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3017520"/>
            <a:ext cx="82296" cy="82296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2926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丰富的生态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5840" y="3566160"/>
            <a:ext cx="82296" cy="82296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3474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类型安全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0" y="1005840"/>
            <a:ext cx="2377440" cy="3474720"/>
          </a:xfrm>
          <a:prstGeom prst="roundRect">
            <a:avLst>
              <a:gd name="adj" fmla="val 3846"/>
            </a:avLst>
          </a:prstGeom>
          <a:solidFill>
            <a:srgbClr val="152244"/>
          </a:solidFill>
          <a:ln w="12700">
            <a:solidFill>
              <a:srgbClr val="2A3A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11887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Vite + Tailwind CSS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749040" y="1645920"/>
            <a:ext cx="1645920" cy="13716"/>
          </a:xfrm>
          <a:prstGeom prst="rect">
            <a:avLst/>
          </a:prstGeom>
          <a:solidFill>
            <a:srgbClr val="2A3A6A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0" y="1920240"/>
            <a:ext cx="82296" cy="82296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19" name="Text 17"/>
          <p:cNvSpPr/>
          <p:nvPr/>
        </p:nvSpPr>
        <p:spPr>
          <a:xfrm>
            <a:off x="3886200" y="1828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极速 HMR 构建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0" y="2468880"/>
            <a:ext cx="82296" cy="82296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21" name="Text 19"/>
          <p:cNvSpPr/>
          <p:nvPr/>
        </p:nvSpPr>
        <p:spPr>
          <a:xfrm>
            <a:off x="3886200" y="2377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原子化样式系统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0" y="3017520"/>
            <a:ext cx="82296" cy="82296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23" name="Text 21"/>
          <p:cNvSpPr/>
          <p:nvPr/>
        </p:nvSpPr>
        <p:spPr>
          <a:xfrm>
            <a:off x="3886200" y="2926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响应式设计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0" y="3566160"/>
            <a:ext cx="82296" cy="82296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25" name="Text 23"/>
          <p:cNvSpPr/>
          <p:nvPr/>
        </p:nvSpPr>
        <p:spPr>
          <a:xfrm>
            <a:off x="3886200" y="3474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深色主题支持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1005840"/>
            <a:ext cx="2377440" cy="3474720"/>
          </a:xfrm>
          <a:prstGeom prst="roundRect">
            <a:avLst>
              <a:gd name="adj" fmla="val 3846"/>
            </a:avLst>
          </a:prstGeom>
          <a:solidFill>
            <a:srgbClr val="152244"/>
          </a:solidFill>
          <a:ln w="12700">
            <a:solidFill>
              <a:srgbClr val="2A3A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11887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Tauri 2.0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0" y="1645920"/>
            <a:ext cx="1645920" cy="13716"/>
          </a:xfrm>
          <a:prstGeom prst="rect">
            <a:avLst/>
          </a:prstGeom>
          <a:solidFill>
            <a:srgbClr val="2A3A6A"/>
          </a:solidFill>
          <a:ln/>
        </p:spPr>
      </p:sp>
      <p:sp>
        <p:nvSpPr>
          <p:cNvPr id="29" name="Shape 27"/>
          <p:cNvSpPr/>
          <p:nvPr/>
        </p:nvSpPr>
        <p:spPr>
          <a:xfrm>
            <a:off x="6309360" y="1920240"/>
            <a:ext cx="82296" cy="82296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1828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后端 + WebView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2468880"/>
            <a:ext cx="82296" cy="82296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32" name="Text 30"/>
          <p:cNvSpPr/>
          <p:nvPr/>
        </p:nvSpPr>
        <p:spPr>
          <a:xfrm>
            <a:off x="6537960" y="2377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全平台支持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3017520"/>
            <a:ext cx="82296" cy="82296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34" name="Text 32"/>
          <p:cNvSpPr/>
          <p:nvPr/>
        </p:nvSpPr>
        <p:spPr>
          <a:xfrm>
            <a:off x="6537960" y="2926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安装包仅 5-10MB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09360" y="3566160"/>
            <a:ext cx="82296" cy="82296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36" name="Text 34"/>
          <p:cNvSpPr/>
          <p:nvPr/>
        </p:nvSpPr>
        <p:spPr>
          <a:xfrm>
            <a:off x="6537960" y="3474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原生系统 API</a:t>
            </a:r>
            <a:endParaRPr lang="en-US" sz="1100" dirty="0"/>
          </a:p>
        </p:txBody>
      </p:sp>
      <p:sp>
        <p:nvSpPr>
          <p:cNvPr id="3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技术选型 — Rust 后端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85800" y="685800"/>
            <a:ext cx="1097280" cy="27432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005840"/>
            <a:ext cx="1737360" cy="3474720"/>
          </a:xfrm>
          <a:prstGeom prst="roundRect">
            <a:avLst>
              <a:gd name="adj" fmla="val 5263"/>
            </a:avLst>
          </a:prstGeom>
          <a:solidFill>
            <a:srgbClr val="152244"/>
          </a:solidFill>
          <a:ln w="12700">
            <a:solidFill>
              <a:srgbClr val="2A3A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1887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Cloudflare Workers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0"/>
            <a:ext cx="1371600" cy="13716"/>
          </a:xfrm>
          <a:prstGeom prst="rect">
            <a:avLst/>
          </a:prstGeom>
          <a:solidFill>
            <a:srgbClr val="2A3A6A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1874520"/>
            <a:ext cx="73152" cy="73152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783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05840" y="2423160"/>
            <a:ext cx="73152" cy="73152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331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 300+ 节点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005840" y="2971800"/>
            <a:ext cx="73152" cy="73152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28803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冷启动 &lt; 5ms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05840" y="3520440"/>
            <a:ext cx="73152" cy="73152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编译为 Wasm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0" y="1005840"/>
            <a:ext cx="1737360" cy="3474720"/>
          </a:xfrm>
          <a:prstGeom prst="roundRect">
            <a:avLst>
              <a:gd name="adj" fmla="val 5263"/>
            </a:avLst>
          </a:prstGeom>
          <a:solidFill>
            <a:srgbClr val="152244"/>
          </a:solidFill>
          <a:ln w="12700">
            <a:solidFill>
              <a:srgbClr val="2A3A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11887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D1 + KV + R2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26080" y="1645920"/>
            <a:ext cx="1371600" cy="13716"/>
          </a:xfrm>
          <a:prstGeom prst="rect">
            <a:avLst/>
          </a:prstGeom>
          <a:solidFill>
            <a:srgbClr val="2A3A6A"/>
          </a:solidFill>
          <a:ln/>
        </p:spPr>
      </p:sp>
      <p:sp>
        <p:nvSpPr>
          <p:cNvPr id="18" name="Shape 16"/>
          <p:cNvSpPr/>
          <p:nvPr/>
        </p:nvSpPr>
        <p:spPr>
          <a:xfrm>
            <a:off x="2926080" y="1874520"/>
            <a:ext cx="73152" cy="73152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19" name="Text 17"/>
          <p:cNvSpPr/>
          <p:nvPr/>
        </p:nvSpPr>
        <p:spPr>
          <a:xfrm>
            <a:off x="3108960" y="1783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D1: SQLite 数据库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926080" y="2423160"/>
            <a:ext cx="73152" cy="73152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21" name="Text 19"/>
          <p:cNvSpPr/>
          <p:nvPr/>
        </p:nvSpPr>
        <p:spPr>
          <a:xfrm>
            <a:off x="3108960" y="2331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KV: 键值缓存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926080" y="2971800"/>
            <a:ext cx="73152" cy="73152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23" name="Text 21"/>
          <p:cNvSpPr/>
          <p:nvPr/>
        </p:nvSpPr>
        <p:spPr>
          <a:xfrm>
            <a:off x="3108960" y="28803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R2: 对象存储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926080" y="3520440"/>
            <a:ext cx="73152" cy="73152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25" name="Text 23"/>
          <p:cNvSpPr/>
          <p:nvPr/>
        </p:nvSpPr>
        <p:spPr>
          <a:xfrm>
            <a:off x="310896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全球低延迟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1005840"/>
            <a:ext cx="1737360" cy="3474720"/>
          </a:xfrm>
          <a:prstGeom prst="roundRect">
            <a:avLst>
              <a:gd name="adj" fmla="val 5263"/>
            </a:avLst>
          </a:prstGeom>
          <a:solidFill>
            <a:srgbClr val="152244"/>
          </a:solidFill>
          <a:ln w="12700">
            <a:solidFill>
              <a:srgbClr val="2A3A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1887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Durable Objects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1645920"/>
            <a:ext cx="1371600" cy="13716"/>
          </a:xfrm>
          <a:prstGeom prst="rect">
            <a:avLst/>
          </a:prstGeom>
          <a:solidFill>
            <a:srgbClr val="2A3A6A"/>
          </a:solidFill>
          <a:ln/>
        </p:spPr>
      </p:sp>
      <p:sp>
        <p:nvSpPr>
          <p:cNvPr id="29" name="Shape 27"/>
          <p:cNvSpPr/>
          <p:nvPr/>
        </p:nvSpPr>
        <p:spPr>
          <a:xfrm>
            <a:off x="4846320" y="1874520"/>
            <a:ext cx="73152" cy="73152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1783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原生 WebSocket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2423160"/>
            <a:ext cx="73152" cy="73152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2331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有状态计算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46320" y="2971800"/>
            <a:ext cx="73152" cy="73152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0" y="28803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实时对弈同步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3520440"/>
            <a:ext cx="73152" cy="73152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自动扩缩容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583680" y="1005840"/>
            <a:ext cx="1737360" cy="3474720"/>
          </a:xfrm>
          <a:prstGeom prst="roundRect">
            <a:avLst>
              <a:gd name="adj" fmla="val 5263"/>
            </a:avLst>
          </a:prstGeom>
          <a:solidFill>
            <a:srgbClr val="152244"/>
          </a:solidFill>
          <a:ln w="12700">
            <a:solidFill>
              <a:srgbClr val="2A3A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0" y="11887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SDK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766560" y="1645920"/>
            <a:ext cx="1371600" cy="13716"/>
          </a:xfrm>
          <a:prstGeom prst="rect">
            <a:avLst/>
          </a:prstGeom>
          <a:solidFill>
            <a:srgbClr val="2A3A6A"/>
          </a:solidFill>
          <a:ln/>
        </p:spPr>
      </p:sp>
      <p:sp>
        <p:nvSpPr>
          <p:cNvPr id="40" name="Shape 38"/>
          <p:cNvSpPr/>
          <p:nvPr/>
        </p:nvSpPr>
        <p:spPr>
          <a:xfrm>
            <a:off x="6766560" y="1874520"/>
            <a:ext cx="73152" cy="73152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41" name="Text 39"/>
          <p:cNvSpPr/>
          <p:nvPr/>
        </p:nvSpPr>
        <p:spPr>
          <a:xfrm>
            <a:off x="6949440" y="1783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async-openai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766560" y="2423160"/>
            <a:ext cx="73152" cy="73152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43" name="Text 41"/>
          <p:cNvSpPr/>
          <p:nvPr/>
        </p:nvSpPr>
        <p:spPr>
          <a:xfrm>
            <a:off x="6949440" y="2331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crate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766560" y="2971800"/>
            <a:ext cx="73152" cy="73152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45" name="Text 43"/>
          <p:cNvSpPr/>
          <p:nvPr/>
        </p:nvSpPr>
        <p:spPr>
          <a:xfrm>
            <a:off x="6949440" y="28803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ollama-rs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766560" y="3520440"/>
            <a:ext cx="73152" cy="73152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47" name="Text 45"/>
          <p:cNvSpPr/>
          <p:nvPr/>
        </p:nvSpPr>
        <p:spPr>
          <a:xfrm>
            <a:off x="694944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统一适配层</a:t>
            </a:r>
            <a:endParaRPr lang="en-US" sz="900" dirty="0"/>
          </a:p>
        </p:txBody>
      </p:sp>
      <p:sp>
        <p:nvSpPr>
          <p:cNvPr id="4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系统架构 — 三端共用 Rust 核心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85800" y="685800"/>
            <a:ext cx="1097280" cy="27432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1A3A6A"/>
          </a:solidFill>
          <a:ln w="1524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前端 — Web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154680" y="91440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1A3A6A"/>
          </a:solidFill>
          <a:ln w="1524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54680" y="9144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前端 — 桌面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852160" y="914400"/>
            <a:ext cx="2834640" cy="384048"/>
          </a:xfrm>
          <a:prstGeom prst="roundRect">
            <a:avLst>
              <a:gd name="adj" fmla="val 19048"/>
            </a:avLst>
          </a:prstGeom>
          <a:solidFill>
            <a:srgbClr val="1A3A6A"/>
          </a:solidFill>
          <a:ln w="1524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0" y="91440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前端 — 移动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34840" y="1316736"/>
            <a:ext cx="274320" cy="164592"/>
          </a:xfrm>
          <a:prstGeom prst="downArrow">
            <a:avLst/>
          </a:prstGeom>
          <a:solidFill>
            <a:srgbClr val="F0C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572768"/>
            <a:ext cx="822960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 w="15240">
            <a:solidFill>
              <a:srgbClr val="F0C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5727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核心库 (gomoku-core) — board | rules | ai | protocol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77440" y="1975104"/>
            <a:ext cx="228600" cy="164592"/>
          </a:xfrm>
          <a:prstGeom prst="downArrow">
            <a:avLst/>
          </a:prstGeom>
          <a:solidFill>
            <a:srgbClr val="F0C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1975104"/>
            <a:ext cx="228600" cy="164592"/>
          </a:xfrm>
          <a:prstGeom prst="downArrow">
            <a:avLst/>
          </a:prstGeom>
          <a:solidFill>
            <a:srgbClr val="F0C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231136"/>
            <a:ext cx="3977640" cy="384048"/>
          </a:xfrm>
          <a:prstGeom prst="roundRect">
            <a:avLst>
              <a:gd name="adj" fmla="val 19048"/>
            </a:avLst>
          </a:prstGeom>
          <a:solidFill>
            <a:srgbClr val="1A3A6A"/>
          </a:solidFill>
          <a:ln w="1524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31136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Workers（在线服务）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2231136"/>
            <a:ext cx="3977640" cy="384048"/>
          </a:xfrm>
          <a:prstGeom prst="roundRect">
            <a:avLst>
              <a:gd name="adj" fmla="val 19048"/>
            </a:avLst>
          </a:prstGeom>
          <a:solidFill>
            <a:srgbClr val="1A3A6A"/>
          </a:solidFill>
          <a:ln w="1524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231136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Tauri Rust 后端（本地服务）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377440" y="2633472"/>
            <a:ext cx="228600" cy="164592"/>
          </a:xfrm>
          <a:prstGeom prst="downArrow">
            <a:avLst/>
          </a:prstGeom>
          <a:solidFill>
            <a:srgbClr val="F0C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2633472"/>
            <a:ext cx="228600" cy="164592"/>
          </a:xfrm>
          <a:prstGeom prst="downArrow">
            <a:avLst/>
          </a:prstGeom>
          <a:solidFill>
            <a:srgbClr val="F0C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889504"/>
            <a:ext cx="3977640" cy="384048"/>
          </a:xfrm>
          <a:prstGeom prst="roundRect">
            <a:avLst>
              <a:gd name="adj" fmla="val 19048"/>
            </a:avLst>
          </a:prstGeom>
          <a:solidFill>
            <a:srgbClr val="0F1D3D"/>
          </a:solidFill>
          <a:ln w="15240">
            <a:solidFill>
              <a:srgbClr val="2A3A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889504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| KV | R2 | Durable Objects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2889504"/>
            <a:ext cx="3977640" cy="384048"/>
          </a:xfrm>
          <a:prstGeom prst="roundRect">
            <a:avLst>
              <a:gd name="adj" fmla="val 19048"/>
            </a:avLst>
          </a:prstGeom>
          <a:solidFill>
            <a:srgbClr val="0F1D3D"/>
          </a:solidFill>
          <a:ln w="15240">
            <a:solidFill>
              <a:srgbClr val="2A3A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889504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 SQLite | 文件系统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434840" y="3291840"/>
            <a:ext cx="274320" cy="164592"/>
          </a:xfrm>
          <a:prstGeom prst="downArrow">
            <a:avLst/>
          </a:prstGeom>
          <a:solidFill>
            <a:srgbClr val="F0C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1600" y="3547872"/>
            <a:ext cx="6400800" cy="384048"/>
          </a:xfrm>
          <a:prstGeom prst="roundRect">
            <a:avLst>
              <a:gd name="adj" fmla="val 19048"/>
            </a:avLst>
          </a:prstGeom>
          <a:solidFill>
            <a:srgbClr val="2A1A0A"/>
          </a:solidFill>
          <a:ln w="15240">
            <a:solidFill>
              <a:srgbClr val="F0C0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0" y="3547872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层 — OpenAI | Anthropic | Ollama</a:t>
            </a:r>
            <a:endParaRPr lang="en-US" sz="1100" dirty="0"/>
          </a:p>
        </p:txBody>
      </p:sp>
      <p:sp>
        <p:nvSpPr>
          <p:cNvPr id="2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登录 &amp; 架构优势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85800" y="685800"/>
            <a:ext cx="1097280" cy="27432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152244"/>
          </a:solidFill>
          <a:ln w="12700">
            <a:solidFill>
              <a:srgbClr val="2A3A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OAuth 授权流程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 w="1524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02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00200" y="1691640"/>
            <a:ext cx="274320" cy="182880"/>
          </a:xfrm>
          <a:prstGeom prst="rightArrow">
            <a:avLst/>
          </a:prstGeom>
          <a:solidFill>
            <a:srgbClr val="F0C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160020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点击 GitHub 登录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057400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 w="1524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0574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00200" y="2148840"/>
            <a:ext cx="274320" cy="182880"/>
          </a:xfrm>
          <a:prstGeom prst="rightArrow">
            <a:avLst/>
          </a:prstGeom>
          <a:solidFill>
            <a:srgbClr val="F0C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205740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授权页面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514600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 w="1524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5146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00200" y="2606040"/>
            <a:ext cx="274320" cy="182880"/>
          </a:xfrm>
          <a:prstGeom prst="rightArrow">
            <a:avLst/>
          </a:prstGeom>
          <a:solidFill>
            <a:srgbClr val="F0C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65960" y="251460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回调处理 + 验证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971800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 w="1524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9718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600200" y="3063240"/>
            <a:ext cx="274320" cy="182880"/>
          </a:xfrm>
          <a:prstGeom prst="rightArrow">
            <a:avLst/>
          </a:prstGeom>
          <a:solidFill>
            <a:srgbClr val="F0C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65960" y="297180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签发访问令牌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429000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 w="1524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4290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600200" y="3520440"/>
            <a:ext cx="274320" cy="182880"/>
          </a:xfrm>
          <a:prstGeom prst="rightArrow">
            <a:avLst/>
          </a:prstGeom>
          <a:solidFill>
            <a:srgbClr val="F0C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65960" y="342900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存储 Token，已登录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架构优势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128016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152244"/>
          </a:solidFill>
          <a:ln w="12700">
            <a:solidFill>
              <a:srgbClr val="2A3A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3716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Rust 内存安全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169164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编译时保证，无 GC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零成本抽象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58000" y="128016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152244"/>
          </a:solidFill>
          <a:ln w="12700">
            <a:solidFill>
              <a:srgbClr val="2A3A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0" y="13716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Tauri 体积小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49440" y="169164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5-10MB vs Electron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100MB+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301752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152244"/>
          </a:solidFill>
          <a:ln w="12700">
            <a:solidFill>
              <a:srgbClr val="2A3A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108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Cloudflare 零运维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34290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 Edge 部署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自动扩缩容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858000" y="301752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152244"/>
          </a:solidFill>
          <a:ln w="12700">
            <a:solidFill>
              <a:srgbClr val="2A3A6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0" y="3108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三端共用核心库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49440" y="34290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一套 Rust 代码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Web/桌面/移动复用</a:t>
            </a:r>
            <a:endParaRPr lang="en-US" sz="900" dirty="0"/>
          </a:p>
        </p:txBody>
      </p:sp>
      <p:sp>
        <p:nvSpPr>
          <p:cNvPr id="3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AI 引擎 — 核心创新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85800" y="685800"/>
            <a:ext cx="1097280" cy="27432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4" name="Shape 2"/>
          <p:cNvSpPr/>
          <p:nvPr/>
        </p:nvSpPr>
        <p:spPr>
          <a:xfrm>
            <a:off x="3611880" y="100584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 w="15240">
            <a:solidFill>
              <a:srgbClr val="F0C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11880" y="10058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Service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94560" y="1408176"/>
            <a:ext cx="201168" cy="164592"/>
          </a:xfrm>
          <a:prstGeom prst="downArrow">
            <a:avLst/>
          </a:prstGeom>
          <a:solidFill>
            <a:srgbClr val="F0C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71416" y="1408176"/>
            <a:ext cx="201168" cy="164592"/>
          </a:xfrm>
          <a:prstGeom prst="downArrow">
            <a:avLst/>
          </a:prstGeom>
          <a:solidFill>
            <a:srgbClr val="F0C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48272" y="1408176"/>
            <a:ext cx="201168" cy="164592"/>
          </a:xfrm>
          <a:prstGeom prst="downArrow">
            <a:avLst/>
          </a:prstGeom>
          <a:solidFill>
            <a:srgbClr val="F0C0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1709928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1A3A6A"/>
          </a:solidFill>
          <a:ln w="1524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70992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Adapter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11880" y="1709928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1A3A6A"/>
          </a:solidFill>
          <a:ln w="1524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170992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Adapter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1709928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1A3A6A"/>
          </a:solidFill>
          <a:ln w="1524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70992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Adapter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276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Trait LlmAdapter { async fn get_move(&amp;self, board: &amp;Board) -&gt; Result&lt;Move&gt;; }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2926080"/>
            <a:ext cx="7315200" cy="1828800"/>
          </a:xfrm>
          <a:prstGeom prst="roundRect">
            <a:avLst>
              <a:gd name="adj" fmla="val 5000"/>
            </a:avLst>
          </a:prstGeom>
          <a:solidFill>
            <a:srgbClr val="0A0F1E"/>
          </a:solidFill>
          <a:ln w="12700">
            <a:solidFill>
              <a:srgbClr val="2A3A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JSON 输出示例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3337560"/>
            <a:ext cx="6400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"row": 7,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"col": 8,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"message": "这步棋下得好！"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分步开发计划（一）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85800" y="685800"/>
            <a:ext cx="1097280" cy="27432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2377440" cy="3474720"/>
          </a:xfrm>
          <a:prstGeom prst="roundRect">
            <a:avLst>
              <a:gd name="adj" fmla="val 3846"/>
            </a:avLst>
          </a:prstGeom>
          <a:solidFill>
            <a:srgbClr val="152244"/>
          </a:solidFill>
          <a:ln w="12700">
            <a:solidFill>
              <a:srgbClr val="2A3A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143000"/>
            <a:ext cx="822960" cy="2286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1430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第一阶段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783080" y="11430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周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" y="1463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基础框架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1874520"/>
            <a:ext cx="1645920" cy="13716"/>
          </a:xfrm>
          <a:prstGeom prst="rect">
            <a:avLst/>
          </a:prstGeom>
          <a:solidFill>
            <a:srgbClr val="2A3A6A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2093976"/>
            <a:ext cx="73152" cy="7315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2011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workspace 搭建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05840" y="2596896"/>
            <a:ext cx="73152" cy="7315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2514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Tauri 2.0 项目初始化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5840" y="3099816"/>
            <a:ext cx="73152" cy="7315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30175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棋盘渲染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05840" y="3602736"/>
            <a:ext cx="73152" cy="7315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35204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Workers 骨架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83280" y="1005840"/>
            <a:ext cx="2377440" cy="3474720"/>
          </a:xfrm>
          <a:prstGeom prst="roundRect">
            <a:avLst>
              <a:gd name="adj" fmla="val 3846"/>
            </a:avLst>
          </a:prstGeom>
          <a:solidFill>
            <a:srgbClr val="152244"/>
          </a:solidFill>
          <a:ln w="12700">
            <a:solidFill>
              <a:srgbClr val="2A3A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0440" y="1143000"/>
            <a:ext cx="822960" cy="2286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11430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第二阶段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434840" y="11430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周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520440" y="1463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本地对战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749040" y="1874520"/>
            <a:ext cx="1645920" cy="13716"/>
          </a:xfrm>
          <a:prstGeom prst="rect">
            <a:avLst/>
          </a:prstGeom>
          <a:solidFill>
            <a:srgbClr val="2A3A6A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0" y="2093976"/>
            <a:ext cx="73152" cy="73152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0" y="2011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双人对战逻辑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0" y="2596896"/>
            <a:ext cx="73152" cy="73152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0" y="2514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悔棋功能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0" y="3099816"/>
            <a:ext cx="73152" cy="73152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0" y="30175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音效系统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0" y="3602736"/>
            <a:ext cx="73152" cy="73152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0" y="35204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棋谱回放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35040" y="1005840"/>
            <a:ext cx="2377440" cy="3474720"/>
          </a:xfrm>
          <a:prstGeom prst="roundRect">
            <a:avLst>
              <a:gd name="adj" fmla="val 3846"/>
            </a:avLst>
          </a:prstGeom>
          <a:solidFill>
            <a:srgbClr val="152244"/>
          </a:solidFill>
          <a:ln w="12700">
            <a:solidFill>
              <a:srgbClr val="2A3A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2200" y="1143000"/>
            <a:ext cx="822960" cy="2286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11430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第三阶段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086600" y="11430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5-7 周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72200" y="1463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AI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400800" y="1874520"/>
            <a:ext cx="1645920" cy="13716"/>
          </a:xfrm>
          <a:prstGeom prst="rect">
            <a:avLst/>
          </a:prstGeom>
          <a:solidFill>
            <a:srgbClr val="2A3A6A"/>
          </a:solidFill>
          <a:ln/>
        </p:spPr>
      </p:sp>
      <p:sp>
        <p:nvSpPr>
          <p:cNvPr id="38" name="Shape 36"/>
          <p:cNvSpPr/>
          <p:nvPr/>
        </p:nvSpPr>
        <p:spPr>
          <a:xfrm>
            <a:off x="6309360" y="2093976"/>
            <a:ext cx="73152" cy="73152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39" name="Text 37"/>
          <p:cNvSpPr/>
          <p:nvPr/>
        </p:nvSpPr>
        <p:spPr>
          <a:xfrm>
            <a:off x="6492240" y="2011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LLM 适配器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09360" y="2596896"/>
            <a:ext cx="73152" cy="73152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41" name="Text 39"/>
          <p:cNvSpPr/>
          <p:nvPr/>
        </p:nvSpPr>
        <p:spPr>
          <a:xfrm>
            <a:off x="6492240" y="2514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工程优化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309360" y="3099816"/>
            <a:ext cx="73152" cy="73152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43" name="Text 41"/>
          <p:cNvSpPr/>
          <p:nvPr/>
        </p:nvSpPr>
        <p:spPr>
          <a:xfrm>
            <a:off x="6492240" y="30175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多平台适配层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09360" y="3602736"/>
            <a:ext cx="73152" cy="73152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45" name="Text 43"/>
          <p:cNvSpPr/>
          <p:nvPr/>
        </p:nvSpPr>
        <p:spPr>
          <a:xfrm>
            <a:off x="6492240" y="35204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难度调节</a:t>
            </a:r>
            <a:endParaRPr lang="en-US" sz="1000" dirty="0"/>
          </a:p>
        </p:txBody>
      </p:sp>
      <p:sp>
        <p:nvSpPr>
          <p:cNvPr id="4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分步开发计划（二）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85800" y="685800"/>
            <a:ext cx="1097280" cy="27432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2377440" cy="3474720"/>
          </a:xfrm>
          <a:prstGeom prst="roundRect">
            <a:avLst>
              <a:gd name="adj" fmla="val 3846"/>
            </a:avLst>
          </a:prstGeom>
          <a:solidFill>
            <a:srgbClr val="152244"/>
          </a:solidFill>
          <a:ln w="12700">
            <a:solidFill>
              <a:srgbClr val="2A3A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143000"/>
            <a:ext cx="822960" cy="2286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1430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第四阶段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783080" y="11430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8-10 周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" y="1463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后端服务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1874520"/>
            <a:ext cx="1645920" cy="13716"/>
          </a:xfrm>
          <a:prstGeom prst="rect">
            <a:avLst/>
          </a:prstGeom>
          <a:solidFill>
            <a:srgbClr val="2A3A6A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2093976"/>
            <a:ext cx="73152" cy="7315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2011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OAuth 集成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05840" y="2596896"/>
            <a:ext cx="73152" cy="7315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2514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数据库设计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5840" y="3099816"/>
            <a:ext cx="73152" cy="7315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30175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Objects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05840" y="3602736"/>
            <a:ext cx="73152" cy="7315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35204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用户系统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83280" y="1005840"/>
            <a:ext cx="2377440" cy="3474720"/>
          </a:xfrm>
          <a:prstGeom prst="roundRect">
            <a:avLst>
              <a:gd name="adj" fmla="val 3846"/>
            </a:avLst>
          </a:prstGeom>
          <a:solidFill>
            <a:srgbClr val="152244"/>
          </a:solidFill>
          <a:ln w="12700">
            <a:solidFill>
              <a:srgbClr val="2A3A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0440" y="1143000"/>
            <a:ext cx="822960" cy="2286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11430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第五阶段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434840" y="11430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11-13 周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520440" y="1463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在线联机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749040" y="1874520"/>
            <a:ext cx="1645920" cy="13716"/>
          </a:xfrm>
          <a:prstGeom prst="rect">
            <a:avLst/>
          </a:prstGeom>
          <a:solidFill>
            <a:srgbClr val="2A3A6A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0" y="2093976"/>
            <a:ext cx="73152" cy="73152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0" y="2011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匹配系统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0" y="2596896"/>
            <a:ext cx="73152" cy="73152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0" y="2514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实时对弈同步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0" y="3099816"/>
            <a:ext cx="73152" cy="73152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0" y="30175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断线重连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0" y="3602736"/>
            <a:ext cx="73152" cy="73152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0" y="35204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观战 + 聊天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35040" y="1005840"/>
            <a:ext cx="2377440" cy="3474720"/>
          </a:xfrm>
          <a:prstGeom prst="roundRect">
            <a:avLst>
              <a:gd name="adj" fmla="val 3846"/>
            </a:avLst>
          </a:prstGeom>
          <a:solidFill>
            <a:srgbClr val="152244"/>
          </a:solidFill>
          <a:ln w="12700">
            <a:solidFill>
              <a:srgbClr val="2A3A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2200" y="1143000"/>
            <a:ext cx="822960" cy="2286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11430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第六阶段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086600" y="11430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14-16 周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72200" y="1463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全平台发布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400800" y="1874520"/>
            <a:ext cx="1645920" cy="13716"/>
          </a:xfrm>
          <a:prstGeom prst="rect">
            <a:avLst/>
          </a:prstGeom>
          <a:solidFill>
            <a:srgbClr val="2A3A6A"/>
          </a:solidFill>
          <a:ln/>
        </p:spPr>
      </p:sp>
      <p:sp>
        <p:nvSpPr>
          <p:cNvPr id="38" name="Shape 36"/>
          <p:cNvSpPr/>
          <p:nvPr/>
        </p:nvSpPr>
        <p:spPr>
          <a:xfrm>
            <a:off x="6309360" y="2093976"/>
            <a:ext cx="73152" cy="73152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39" name="Text 37"/>
          <p:cNvSpPr/>
          <p:nvPr/>
        </p:nvSpPr>
        <p:spPr>
          <a:xfrm>
            <a:off x="6492240" y="2011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桌面端构建签名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09360" y="2596896"/>
            <a:ext cx="73152" cy="73152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41" name="Text 39"/>
          <p:cNvSpPr/>
          <p:nvPr/>
        </p:nvSpPr>
        <p:spPr>
          <a:xfrm>
            <a:off x="6492240" y="2514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移动端构建签名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309360" y="3099816"/>
            <a:ext cx="73152" cy="73152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43" name="Text 41"/>
          <p:cNvSpPr/>
          <p:nvPr/>
        </p:nvSpPr>
        <p:spPr>
          <a:xfrm>
            <a:off x="6492240" y="30175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应用商店上架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09360" y="3602736"/>
            <a:ext cx="73152" cy="73152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45" name="Text 43"/>
          <p:cNvSpPr/>
          <p:nvPr/>
        </p:nvSpPr>
        <p:spPr>
          <a:xfrm>
            <a:off x="6492240" y="35204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持续集成部署</a:t>
            </a:r>
            <a:endParaRPr lang="en-US" sz="1000" dirty="0"/>
          </a:p>
        </p:txBody>
      </p:sp>
      <p:sp>
        <p:nvSpPr>
          <p:cNvPr id="4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成本估算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85800" y="685800"/>
            <a:ext cx="1097280" cy="27432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4023360" cy="2560320"/>
          </a:xfrm>
          <a:prstGeom prst="roundRect">
            <a:avLst>
              <a:gd name="adj" fmla="val 3571"/>
            </a:avLst>
          </a:prstGeom>
          <a:solidFill>
            <a:srgbClr val="152244"/>
          </a:solidFill>
          <a:ln w="12700">
            <a:solidFill>
              <a:srgbClr val="2A3A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Cloudflare 费用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737360" y="14630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万请求/天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474720" y="14630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免费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37360" y="17830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无限带宽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74720" y="1783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免费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1031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37360" y="21031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5GB + 5M 读/天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0" y="2103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免费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42316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737360" y="24231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读/天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74720" y="2423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免费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27432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737360" y="27432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10GB 存储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74720" y="27432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免费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30632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737360" y="30632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按需付费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474720" y="30632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$0.15/M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05840"/>
            <a:ext cx="4023360" cy="2560320"/>
          </a:xfrm>
          <a:prstGeom prst="roundRect">
            <a:avLst>
              <a:gd name="adj" fmla="val 3571"/>
            </a:avLst>
          </a:prstGeom>
          <a:solidFill>
            <a:srgbClr val="152244"/>
          </a:solidFill>
          <a:ln w="12700">
            <a:solidFill>
              <a:srgbClr val="2A3A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平台发布费用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14630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工具链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26480" y="14630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开源免费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680960" y="14630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免费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46320" y="17830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Developer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26480" y="17830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上架必需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680960" y="178308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$99/年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46320" y="21031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26480" y="21031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一次性注册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680960" y="21031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46320" y="24231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签名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26480" y="24231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代码签名证书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680960" y="242316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~$200/年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274320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26480" y="27432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自动化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680960" y="27432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免费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46320" y="30632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域名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26480" y="30632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.com 域名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680960" y="30632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~$10/年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5760" y="3794760"/>
            <a:ext cx="8321040" cy="1005840"/>
          </a:xfrm>
          <a:prstGeom prst="roundRect">
            <a:avLst>
              <a:gd name="adj" fmla="val 9091"/>
            </a:avLst>
          </a:prstGeom>
          <a:solidFill>
            <a:srgbClr val="1A1A0A"/>
          </a:solidFill>
          <a:ln w="12700">
            <a:solidFill>
              <a:srgbClr val="2A3A6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3840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成本估算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0080" y="4160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GPT-4o-mini: ~$0.0003/局  |  Claude Haiku: ~$0.0005/局  |  Ollama 本地: $0（需 GPU）  |  月均 1000 局: &lt; $1</a:t>
            </a:r>
            <a:endParaRPr lang="en-US" sz="900" dirty="0"/>
          </a:p>
        </p:txBody>
      </p:sp>
      <p:sp>
        <p:nvSpPr>
          <p:cNvPr id="4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风险评估与应对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85800" y="685800"/>
            <a:ext cx="1097280" cy="27432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205740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15240">
            <a:solidFill>
              <a:srgbClr val="F0C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风险项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0" y="1005840"/>
            <a:ext cx="77724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15240">
            <a:solidFill>
              <a:srgbClr val="F0C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100584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等级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005840"/>
            <a:ext cx="470916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15240">
            <a:solidFill>
              <a:srgbClr val="F0C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0058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应对策略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408176"/>
            <a:ext cx="2057400" cy="475488"/>
          </a:xfrm>
          <a:prstGeom prst="rect">
            <a:avLst/>
          </a:prstGeom>
          <a:solidFill>
            <a:srgbClr val="152244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08176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学习曲线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0" y="1408176"/>
            <a:ext cx="777240" cy="475488"/>
          </a:xfrm>
          <a:prstGeom prst="rect">
            <a:avLst/>
          </a:prstGeom>
          <a:solidFill>
            <a:srgbClr val="152244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97480" y="1517904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FF9800"/>
          </a:solidFill>
          <a:ln/>
        </p:spPr>
      </p:sp>
      <p:sp>
        <p:nvSpPr>
          <p:cNvPr id="14" name="Text 12"/>
          <p:cNvSpPr/>
          <p:nvPr/>
        </p:nvSpPr>
        <p:spPr>
          <a:xfrm>
            <a:off x="2697480" y="151790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83280" y="1408176"/>
            <a:ext cx="4709160" cy="475488"/>
          </a:xfrm>
          <a:prstGeom prst="rect">
            <a:avLst/>
          </a:prstGeom>
          <a:solidFill>
            <a:srgbClr val="152244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408176"/>
            <a:ext cx="4526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核心库封装，前端 React 降低门槛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1920240"/>
            <a:ext cx="2057400" cy="475488"/>
          </a:xfrm>
          <a:prstGeom prst="rect">
            <a:avLst/>
          </a:prstGeom>
          <a:solidFill>
            <a:srgbClr val="12203E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192024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Tauri 移动端成熟度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0" y="1920240"/>
            <a:ext cx="777240" cy="475488"/>
          </a:xfrm>
          <a:prstGeom prst="rect">
            <a:avLst/>
          </a:prstGeom>
          <a:solidFill>
            <a:srgbClr val="12203E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97480" y="2029968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FF9800"/>
          </a:solidFill>
          <a:ln/>
        </p:spPr>
      </p:sp>
      <p:sp>
        <p:nvSpPr>
          <p:cNvPr id="21" name="Text 19"/>
          <p:cNvSpPr/>
          <p:nvPr/>
        </p:nvSpPr>
        <p:spPr>
          <a:xfrm>
            <a:off x="2697480" y="202996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83280" y="1920240"/>
            <a:ext cx="4709160" cy="475488"/>
          </a:xfrm>
          <a:prstGeom prst="rect">
            <a:avLst/>
          </a:prstGeom>
          <a:solidFill>
            <a:srgbClr val="12203E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920240"/>
            <a:ext cx="4526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Tauri 2.0 已稳定，社区活跃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432304"/>
            <a:ext cx="2057400" cy="475488"/>
          </a:xfrm>
          <a:prstGeom prst="rect">
            <a:avLst/>
          </a:prstGeom>
          <a:solidFill>
            <a:srgbClr val="152244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432304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Rust 限制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0" y="2432304"/>
            <a:ext cx="777240" cy="475488"/>
          </a:xfrm>
          <a:prstGeom prst="rect">
            <a:avLst/>
          </a:prstGeom>
          <a:solidFill>
            <a:srgbClr val="152244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97480" y="2542032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FF9800"/>
          </a:solidFill>
          <a:ln/>
        </p:spPr>
      </p:sp>
      <p:sp>
        <p:nvSpPr>
          <p:cNvPr id="28" name="Text 26"/>
          <p:cNvSpPr/>
          <p:nvPr/>
        </p:nvSpPr>
        <p:spPr>
          <a:xfrm>
            <a:off x="2697480" y="254203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83280" y="2432304"/>
            <a:ext cx="4709160" cy="475488"/>
          </a:xfrm>
          <a:prstGeom prst="rect">
            <a:avLst/>
          </a:prstGeom>
          <a:solidFill>
            <a:srgbClr val="152244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432304"/>
            <a:ext cx="4526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 超时，LLM 调用需异步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2944368"/>
            <a:ext cx="2057400" cy="475488"/>
          </a:xfrm>
          <a:prstGeom prst="rect">
            <a:avLst/>
          </a:prstGeom>
          <a:solidFill>
            <a:srgbClr val="12203E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2944368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输出不稳定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60320" y="2944368"/>
            <a:ext cx="777240" cy="475488"/>
          </a:xfrm>
          <a:prstGeom prst="rect">
            <a:avLst/>
          </a:prstGeom>
          <a:solidFill>
            <a:srgbClr val="12203E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97480" y="3054096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F44336"/>
          </a:solidFill>
          <a:ln/>
        </p:spPr>
      </p:sp>
      <p:sp>
        <p:nvSpPr>
          <p:cNvPr id="35" name="Text 33"/>
          <p:cNvSpPr/>
          <p:nvPr/>
        </p:nvSpPr>
        <p:spPr>
          <a:xfrm>
            <a:off x="2697480" y="305409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383280" y="2944368"/>
            <a:ext cx="4709160" cy="475488"/>
          </a:xfrm>
          <a:prstGeom prst="rect">
            <a:avLst/>
          </a:prstGeom>
          <a:solidFill>
            <a:srgbClr val="12203E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0" y="2944368"/>
            <a:ext cx="4526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Mode + 验证 + 重试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3456432"/>
            <a:ext cx="2057400" cy="475488"/>
          </a:xfrm>
          <a:prstGeom prst="rect">
            <a:avLst/>
          </a:prstGeom>
          <a:solidFill>
            <a:srgbClr val="152244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3456432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SQLite 限制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560320" y="3456432"/>
            <a:ext cx="777240" cy="475488"/>
          </a:xfrm>
          <a:prstGeom prst="rect">
            <a:avLst/>
          </a:prstGeom>
          <a:solidFill>
            <a:srgbClr val="152244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697480" y="3566160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4CAF50"/>
          </a:solidFill>
          <a:ln/>
        </p:spPr>
      </p:sp>
      <p:sp>
        <p:nvSpPr>
          <p:cNvPr id="42" name="Text 40"/>
          <p:cNvSpPr/>
          <p:nvPr/>
        </p:nvSpPr>
        <p:spPr>
          <a:xfrm>
            <a:off x="2697480" y="356616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383280" y="3456432"/>
            <a:ext cx="4709160" cy="475488"/>
          </a:xfrm>
          <a:prstGeom prst="rect">
            <a:avLst/>
          </a:prstGeom>
          <a:solidFill>
            <a:srgbClr val="152244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0" y="3456432"/>
            <a:ext cx="4526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5GB/库，读多写少完全够用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3968496"/>
            <a:ext cx="2057400" cy="475488"/>
          </a:xfrm>
          <a:prstGeom prst="rect">
            <a:avLst/>
          </a:prstGeom>
          <a:solidFill>
            <a:srgbClr val="12203E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3968496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跨平台兼容性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560320" y="3968496"/>
            <a:ext cx="777240" cy="475488"/>
          </a:xfrm>
          <a:prstGeom prst="rect">
            <a:avLst/>
          </a:prstGeom>
          <a:solidFill>
            <a:srgbClr val="12203E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697480" y="4078224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FF9800"/>
          </a:solidFill>
          <a:ln/>
        </p:spPr>
      </p:sp>
      <p:sp>
        <p:nvSpPr>
          <p:cNvPr id="49" name="Text 47"/>
          <p:cNvSpPr/>
          <p:nvPr/>
        </p:nvSpPr>
        <p:spPr>
          <a:xfrm>
            <a:off x="2697480" y="407822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383280" y="3968496"/>
            <a:ext cx="4709160" cy="475488"/>
          </a:xfrm>
          <a:prstGeom prst="rect">
            <a:avLst/>
          </a:prstGeom>
          <a:solidFill>
            <a:srgbClr val="12203E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74720" y="3968496"/>
            <a:ext cx="4526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Tauri 抽象 + CI 自动测试</a:t>
            </a:r>
            <a:endParaRPr lang="en-US" sz="900" dirty="0"/>
          </a:p>
        </p:txBody>
      </p:sp>
      <p:sp>
        <p:nvSpPr>
          <p:cNvPr id="5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82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为什么选择 Tauri？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85800" y="685800"/>
            <a:ext cx="1097280" cy="27432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005840"/>
            <a:ext cx="1691640" cy="411480"/>
          </a:xfrm>
          <a:prstGeom prst="roundRect">
            <a:avLst>
              <a:gd name="adj" fmla="val 17778"/>
            </a:avLst>
          </a:prstGeom>
          <a:solidFill>
            <a:srgbClr val="1E2761"/>
          </a:solidFill>
          <a:ln w="15240">
            <a:solidFill>
              <a:srgbClr val="F0C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058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维度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51760" y="1005840"/>
            <a:ext cx="2423160" cy="411480"/>
          </a:xfrm>
          <a:prstGeom prst="roundRect">
            <a:avLst>
              <a:gd name="adj" fmla="val 17778"/>
            </a:avLst>
          </a:prstGeom>
          <a:solidFill>
            <a:srgbClr val="1A3A2A"/>
          </a:solidFill>
          <a:ln w="1524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0" y="10058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Tauri 2.0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0" y="1005840"/>
            <a:ext cx="2423160" cy="411480"/>
          </a:xfrm>
          <a:prstGeom prst="roundRect">
            <a:avLst>
              <a:gd name="adj" fmla="val 17778"/>
            </a:avLst>
          </a:prstGeom>
          <a:solidFill>
            <a:srgbClr val="3A1A1A"/>
          </a:solidFill>
          <a:ln w="15240">
            <a:solidFill>
              <a:srgbClr val="F443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10058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1453896"/>
            <a:ext cx="1691640" cy="411480"/>
          </a:xfrm>
          <a:prstGeom prst="rect">
            <a:avLst/>
          </a:prstGeom>
          <a:solidFill>
            <a:srgbClr val="152244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453896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后端语言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51760" y="1453896"/>
            <a:ext cx="2423160" cy="411480"/>
          </a:xfrm>
          <a:prstGeom prst="rect">
            <a:avLst/>
          </a:prstGeom>
          <a:solidFill>
            <a:srgbClr val="152244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1453896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0" y="1453896"/>
            <a:ext cx="2423160" cy="411480"/>
          </a:xfrm>
          <a:prstGeom prst="rect">
            <a:avLst/>
          </a:prstGeom>
          <a:solidFill>
            <a:srgbClr val="152244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1453896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1901952"/>
            <a:ext cx="1691640" cy="411480"/>
          </a:xfrm>
          <a:prstGeom prst="rect">
            <a:avLst/>
          </a:prstGeom>
          <a:solidFill>
            <a:srgbClr val="12203E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190195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安装包大小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51760" y="1901952"/>
            <a:ext cx="2423160" cy="411480"/>
          </a:xfrm>
          <a:prstGeom prst="rect">
            <a:avLst/>
          </a:prstGeom>
          <a:solidFill>
            <a:srgbClr val="12203E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1901952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 MB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20640" y="1901952"/>
            <a:ext cx="2423160" cy="411480"/>
          </a:xfrm>
          <a:prstGeom prst="rect">
            <a:avLst/>
          </a:prstGeom>
          <a:solidFill>
            <a:srgbClr val="12203E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1901952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100-150 MB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4400" y="2350008"/>
            <a:ext cx="1691640" cy="411480"/>
          </a:xfrm>
          <a:prstGeom prst="rect">
            <a:avLst/>
          </a:prstGeom>
          <a:solidFill>
            <a:srgbClr val="152244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2350008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内存占用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51760" y="2350008"/>
            <a:ext cx="2423160" cy="411480"/>
          </a:xfrm>
          <a:prstGeom prst="rect">
            <a:avLst/>
          </a:prstGeom>
          <a:solidFill>
            <a:srgbClr val="152244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235000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MB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20640" y="2350008"/>
            <a:ext cx="2423160" cy="411480"/>
          </a:xfrm>
          <a:prstGeom prst="rect">
            <a:avLst/>
          </a:prstGeom>
          <a:solidFill>
            <a:srgbClr val="152244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235000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 MB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14400" y="2798064"/>
            <a:ext cx="1691640" cy="411480"/>
          </a:xfrm>
          <a:prstGeom prst="rect">
            <a:avLst/>
          </a:prstGeom>
          <a:solidFill>
            <a:srgbClr val="12203E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2798064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启动速度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51760" y="2798064"/>
            <a:ext cx="2423160" cy="411480"/>
          </a:xfrm>
          <a:prstGeom prst="rect">
            <a:avLst/>
          </a:prstGeom>
          <a:solidFill>
            <a:srgbClr val="12203E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0" y="2798064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极快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120640" y="2798064"/>
            <a:ext cx="2423160" cy="411480"/>
          </a:xfrm>
          <a:prstGeom prst="rect">
            <a:avLst/>
          </a:prstGeom>
          <a:solidFill>
            <a:srgbClr val="12203E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2798064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较慢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14400" y="3246120"/>
            <a:ext cx="1691640" cy="411480"/>
          </a:xfrm>
          <a:prstGeom prst="rect">
            <a:avLst/>
          </a:prstGeom>
          <a:solidFill>
            <a:srgbClr val="152244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5840" y="32461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安全性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651760" y="3246120"/>
            <a:ext cx="2423160" cy="411480"/>
          </a:xfrm>
          <a:prstGeom prst="rect">
            <a:avLst/>
          </a:prstGeom>
          <a:solidFill>
            <a:srgbClr val="152244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32461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内存安全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120640" y="3246120"/>
            <a:ext cx="2423160" cy="411480"/>
          </a:xfrm>
          <a:prstGeom prst="rect">
            <a:avLst/>
          </a:prstGeom>
          <a:solidFill>
            <a:srgbClr val="152244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0" y="32461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依赖 Node.js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14400" y="3694176"/>
            <a:ext cx="1691640" cy="411480"/>
          </a:xfrm>
          <a:prstGeom prst="rect">
            <a:avLst/>
          </a:prstGeom>
          <a:solidFill>
            <a:srgbClr val="12203E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5840" y="3694176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移动端支持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651760" y="3694176"/>
            <a:ext cx="2423160" cy="411480"/>
          </a:xfrm>
          <a:prstGeom prst="rect">
            <a:avLst/>
          </a:prstGeom>
          <a:solidFill>
            <a:srgbClr val="12203E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0" y="3694176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+ Android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120640" y="3694176"/>
            <a:ext cx="2423160" cy="411480"/>
          </a:xfrm>
          <a:prstGeom prst="rect">
            <a:avLst/>
          </a:prstGeom>
          <a:solidFill>
            <a:srgbClr val="12203E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12080" y="3694176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不支持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14400" y="4142232"/>
            <a:ext cx="1691640" cy="411480"/>
          </a:xfrm>
          <a:prstGeom prst="rect">
            <a:avLst/>
          </a:prstGeom>
          <a:solidFill>
            <a:srgbClr val="152244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05840" y="414223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原生能力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651760" y="4142232"/>
            <a:ext cx="2423160" cy="411480"/>
          </a:xfrm>
          <a:prstGeom prst="rect">
            <a:avLst/>
          </a:prstGeom>
          <a:solidFill>
            <a:srgbClr val="152244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0" y="4142232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完整系统 API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120640" y="4142232"/>
            <a:ext cx="2423160" cy="411480"/>
          </a:xfrm>
          <a:prstGeom prst="rect">
            <a:avLst/>
          </a:prstGeom>
          <a:solidFill>
            <a:srgbClr val="152244"/>
          </a:solidFill>
          <a:ln w="6350">
            <a:solidFill>
              <a:srgbClr val="2A3A6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12080" y="4142232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受限</a:t>
            </a:r>
            <a:endParaRPr lang="en-US" sz="1000" dirty="0"/>
          </a:p>
        </p:txBody>
      </p:sp>
      <p:sp>
        <p:nvSpPr>
          <p:cNvPr id="5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0A1229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011680"/>
            <a:ext cx="6400800" cy="27432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19456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谢谢观看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" y="32004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+ Tauri + Cloudflare + LLM，全平台对弈新体验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011680" y="3840480"/>
            <a:ext cx="5120640" cy="22860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五子棋 — 全平台技术开发方案</dc:title>
  <dc:subject>PptxGenJS Presentation</dc:subject>
  <dc:creator>Gomoku Dev Team</dc:creator>
  <cp:lastModifiedBy>Gomoku Dev Team</cp:lastModifiedBy>
  <cp:revision>1</cp:revision>
  <dcterms:created xsi:type="dcterms:W3CDTF">2026-05-02T09:13:04Z</dcterms:created>
  <dcterms:modified xsi:type="dcterms:W3CDTF">2026-05-02T09:13:04Z</dcterms:modified>
</cp:coreProperties>
</file>